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61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56" dt="2026-10-05T12:41:06.606"/>
    <p1510:client id="{105A6FC3-F461-625C-AD63-2ADEE0A6DDEF}" v="642" dt="2026-10-05T11:13:42.466"/>
    <p1510:client id="{8D8429B7-C9B1-65A3-16CA-A969A5404F64}" v="30" dt="2026-10-05T14:21:42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Commercial Auto Risk Scoring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ptos Display"/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6DAC-7B45-CBD5-FA8F-0F9C3FFCB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C408C-333D-A8FA-C6E8-21347C062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Aptos Display"/>
                <a:ea typeface="+mn-lt"/>
                <a:cs typeface="+mn-lt"/>
              </a:rPr>
              <a:t>Commercial auto insurance covers multi-vehicle enterprise fleets. Commercial fleets represent high-exposure risk pools.</a:t>
            </a:r>
            <a:endParaRPr lang="en-US" dirty="0">
              <a:latin typeface="Aptos Display"/>
            </a:endParaRPr>
          </a:p>
          <a:p>
            <a:pPr marL="0" indent="0">
              <a:buNone/>
            </a:pPr>
            <a:endParaRPr lang="en-US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latin typeface="Aptos Display"/>
                <a:ea typeface="+mn-lt"/>
                <a:cs typeface="+mn-lt"/>
              </a:rPr>
              <a:t>Primary Objective</a:t>
            </a:r>
            <a:r>
              <a:rPr lang="en-US" dirty="0">
                <a:latin typeface="Aptos Display"/>
                <a:ea typeface="+mn-lt"/>
                <a:cs typeface="+mn-lt"/>
              </a:rPr>
              <a:t>: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Estimate the continuous probability of claim occurrence (claim &gt; 0) for each policy_id using binary classification.</a:t>
            </a:r>
            <a:endParaRPr lang="en-US">
              <a:latin typeface="Aptos Display"/>
            </a:endParaRPr>
          </a:p>
          <a:p>
            <a:pPr marL="0" indent="0">
              <a:buNone/>
            </a:pPr>
            <a:endParaRPr lang="en-US" b="1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latin typeface="Aptos Display"/>
                <a:ea typeface="+mn-lt"/>
                <a:cs typeface="+mn-lt"/>
              </a:rPr>
              <a:t>Approach: </a:t>
            </a:r>
            <a:endParaRPr lang="en-US" dirty="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latin typeface="Aptos Display"/>
                <a:ea typeface="+mn-lt"/>
                <a:cs typeface="+mn-lt"/>
              </a:rPr>
              <a:t>Create an end-to-end ML pipeline predicting policy claim incidence (claim &gt; 0) to prioritize triage and optimize loss ratios.</a:t>
            </a:r>
            <a:endParaRPr lang="en-US" dirty="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50672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4C4F-3800-C330-8DF9-80839BCA6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Problem Formulation &amp; Key Assumptions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7C782-85BC-988D-89D6-BCB01AFA9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 marL="457200" indent="-457200"/>
            <a:r>
              <a:rPr lang="en-US" dirty="0">
                <a:latin typeface="Aptos Display"/>
              </a:rPr>
              <a:t>Claims are rare events (12.3% in this scenario)</a:t>
            </a:r>
          </a:p>
          <a:p>
            <a:pPr marL="457200" indent="-457200"/>
            <a:r>
              <a:rPr lang="en-US" dirty="0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The classes (claim / no claim) are very imbalanced</a:t>
            </a:r>
            <a:endParaRPr lang="en-US">
              <a:latin typeface="Aptos Display"/>
              <a:ea typeface="+mn-lt"/>
              <a:cs typeface="+mn-lt"/>
            </a:endParaRPr>
          </a:p>
          <a:p>
            <a:pPr marL="457200" indent="-457200"/>
            <a:r>
              <a:rPr lang="en-US" dirty="0">
                <a:latin typeface="Aptos Display"/>
              </a:rPr>
              <a:t>Accuracy may be misleading in this scenario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dirty="0">
                <a:latin typeface="Aptos Display"/>
                <a:ea typeface="+mn-lt"/>
                <a:cs typeface="+mn-lt"/>
              </a:rPr>
              <a:t>returning high accuracy in identifying the 'no claim' policies and we may miss the 'claim' scenarios</a:t>
            </a:r>
            <a:endParaRPr lang="en-US" dirty="0">
              <a:latin typeface="Aptos Display"/>
            </a:endParaRPr>
          </a:p>
          <a:p>
            <a:pPr marL="457200" indent="-457200"/>
            <a:r>
              <a:rPr lang="en-US" dirty="0">
                <a:latin typeface="Aptos Display"/>
              </a:rPr>
              <a:t>Binary classification vs. continuous probability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dirty="0">
                <a:latin typeface="Aptos Display"/>
              </a:rPr>
              <a:t>as loss is rare continuous probability may add more value / be more descriptive </a:t>
            </a:r>
          </a:p>
          <a:p>
            <a:pPr marL="0" indent="0">
              <a:buNone/>
            </a:pPr>
            <a:endParaRPr lang="en-US" dirty="0">
              <a:latin typeface="Aptos Display"/>
            </a:endParaRPr>
          </a:p>
          <a:p>
            <a:pPr marL="0" indent="0">
              <a:buNone/>
            </a:pPr>
            <a:r>
              <a:rPr lang="en-US" dirty="0">
                <a:latin typeface="Aptos Display"/>
              </a:rPr>
              <a:t>The aim is to train the model rather to better identify these 'outlier' situations – to minimize the loss.</a:t>
            </a:r>
          </a:p>
          <a:p>
            <a:pPr marL="0" indent="0">
              <a:buNone/>
            </a:pPr>
            <a:endParaRPr lang="en-US" dirty="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39030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BE0CF-DEED-70CC-81EC-D12C8D61F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Exploratory Data Analysis &amp; Data Integrity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E2E3D-A421-702A-8EA3-EEC3FFD83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dirty="0">
                <a:latin typeface="Aptos Display"/>
              </a:rPr>
              <a:t>Real data vs. Train dataset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 Display"/>
              </a:rPr>
              <a:t>column inconsistencies: '</a:t>
            </a:r>
            <a:r>
              <a:rPr lang="en-US" dirty="0">
                <a:latin typeface="Aptos Display"/>
                <a:ea typeface="+mn-lt"/>
                <a:cs typeface="+mn-lt"/>
              </a:rPr>
              <a:t>has_safety_program</a:t>
            </a:r>
            <a:r>
              <a:rPr lang="en-US" dirty="0">
                <a:latin typeface="Aptos Display"/>
              </a:rPr>
              <a:t>'</a:t>
            </a:r>
          </a:p>
          <a:p>
            <a:r>
              <a:rPr lang="en-US" b="1" dirty="0">
                <a:latin typeface="Aptos Display"/>
              </a:rPr>
              <a:t>Data leakage prevention</a:t>
            </a:r>
            <a:endParaRPr lang="en-US" dirty="0">
              <a:latin typeface="Aptos Display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Aptos Display"/>
              </a:rPr>
              <a:t>excluded from features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dirty="0">
                <a:latin typeface="Aptos Display"/>
              </a:rPr>
              <a:t>columns determined by target column 'claim_count'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dirty="0">
                <a:latin typeface="Aptos Display"/>
              </a:rPr>
              <a:t>missing column in real dataset: 'has_safety_program'</a:t>
            </a:r>
          </a:p>
          <a:p>
            <a:r>
              <a:rPr lang="en-US" b="1" dirty="0">
                <a:latin typeface="Aptos Display"/>
              </a:rPr>
              <a:t>Deduplication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 Display"/>
                <a:ea typeface="+mn-lt"/>
                <a:cs typeface="+mn-lt"/>
              </a:rPr>
              <a:t>exact row-level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 Display"/>
                <a:ea typeface="+mn-lt"/>
                <a:cs typeface="+mn-lt"/>
              </a:rPr>
              <a:t>primary key </a:t>
            </a:r>
            <a:r>
              <a:rPr lang="en-US" dirty="0">
                <a:latin typeface="Aptos Display"/>
              </a:rPr>
              <a:t>'policy_id'</a:t>
            </a:r>
            <a:endParaRPr lang="en-US">
              <a:latin typeface="Aptos Display"/>
            </a:endParaRPr>
          </a:p>
          <a:p>
            <a:r>
              <a:rPr lang="en-US" b="1" dirty="0">
                <a:latin typeface="Aptos Display"/>
              </a:rPr>
              <a:t>Data types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 Display"/>
              </a:rPr>
              <a:t>mixed types / data in single columns: n/a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 Display"/>
              </a:rPr>
              <a:t>column's data type update: datetime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 Display"/>
              </a:rPr>
              <a:t>case formatting: business_type</a:t>
            </a:r>
          </a:p>
          <a:p>
            <a:pPr marL="0" indent="0">
              <a:buNone/>
            </a:pPr>
            <a:endParaRPr lang="en-US" b="1" dirty="0">
              <a:latin typeface="Consolas"/>
            </a:endParaRPr>
          </a:p>
          <a:p>
            <a:endParaRPr lang="en-US" b="1" dirty="0">
              <a:latin typeface="Aptos" panose="02110004020202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DBC1F0-00A4-D0AC-7313-682276C79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904" y="4938883"/>
            <a:ext cx="3648075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772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AE636-4AD9-1D3F-B2A2-A1AD9C669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924D-8A26-374A-248B-798FC42C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 Display"/>
                <a:ea typeface="+mj-lt"/>
                <a:cs typeface="+mj-lt"/>
              </a:rPr>
              <a:t>Exploratory </a:t>
            </a:r>
            <a:r>
              <a:rPr lang="en-US" dirty="0">
                <a:ea typeface="+mj-lt"/>
                <a:cs typeface="+mj-lt"/>
              </a:rPr>
              <a:t>Data Analysis &amp; Data Integrity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6D695-E050-E837-90D6-4C1B7C442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latin typeface="Aptos Display"/>
              </a:rPr>
              <a:t>Outliers and anomalies</a:t>
            </a:r>
            <a:endParaRPr lang="en-US">
              <a:latin typeface="Aptos Display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 Display"/>
              </a:rPr>
              <a:t>replaced: </a:t>
            </a:r>
            <a:endParaRPr lang="en-US">
              <a:latin typeface="Aptos Display"/>
              <a:ea typeface="+mn-lt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latin typeface="Aptos Display"/>
              </a:rPr>
              <a:t>'business_type': 'agriculture' with 'other' (1 row)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 Display"/>
              </a:rPr>
              <a:t>dropped: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latin typeface="Aptos Display"/>
              </a:rPr>
              <a:t>chronological anomalies:</a:t>
            </a:r>
            <a:r>
              <a:rPr lang="en-US" dirty="0">
                <a:latin typeface="Aptos Display"/>
                <a:ea typeface="+mn-lt"/>
                <a:cs typeface="+mn-lt"/>
              </a:rPr>
              <a:t> expiration date &lt; effective date (10 rows)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latin typeface="Aptos Display"/>
              </a:rPr>
              <a:t>negative annual premiums (maybe cancellations): 'annual_premium' &lt; 0 (5 rows)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latin typeface="Aptos Display"/>
                <a:ea typeface="+mn-lt"/>
                <a:cs typeface="+mn-lt"/>
              </a:rPr>
              <a:t>ghost fleets: 'total_vehicles' = 0 with active drivers or mileage &gt; 0 (2 rows)</a:t>
            </a:r>
            <a:endParaRPr lang="en-US">
              <a:latin typeface="Aptos Display"/>
            </a:endParaRPr>
          </a:p>
          <a:p>
            <a:r>
              <a:rPr lang="en-US" b="1" dirty="0">
                <a:latin typeface="Aptos Display"/>
              </a:rPr>
              <a:t>Null (missing) values</a:t>
            </a:r>
            <a:endParaRPr lang="en-US">
              <a:latin typeface="Aptos Display"/>
            </a:endParaRPr>
          </a:p>
          <a:p>
            <a:pPr lvl="1"/>
            <a:r>
              <a:rPr lang="en-US" dirty="0">
                <a:latin typeface="Aptos Display"/>
                <a:ea typeface="+mn-lt"/>
                <a:cs typeface="+mn-lt"/>
              </a:rPr>
              <a:t>'</a:t>
            </a:r>
            <a:r>
              <a:rPr lang="en-US" dirty="0" err="1">
                <a:latin typeface="Aptos Display"/>
                <a:ea typeface="+mn-lt"/>
                <a:cs typeface="+mn-lt"/>
              </a:rPr>
              <a:t>prior_loss_amount</a:t>
            </a:r>
            <a:r>
              <a:rPr lang="en-US" dirty="0">
                <a:latin typeface="Aptos Display"/>
                <a:ea typeface="+mn-lt"/>
                <a:cs typeface="+mn-lt"/>
              </a:rPr>
              <a:t>'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latin typeface="Aptos Display"/>
                <a:ea typeface="+mn-lt"/>
                <a:cs typeface="+mn-lt"/>
              </a:rPr>
              <a:t>strategy: if '</a:t>
            </a:r>
            <a:r>
              <a:rPr lang="en-US" dirty="0" err="1">
                <a:latin typeface="Aptos Display"/>
                <a:ea typeface="+mn-lt"/>
                <a:cs typeface="+mn-lt"/>
              </a:rPr>
              <a:t>prior_apd_claim_count</a:t>
            </a:r>
            <a:r>
              <a:rPr lang="en-US" dirty="0">
                <a:latin typeface="Aptos Display"/>
                <a:ea typeface="+mn-lt"/>
                <a:cs typeface="+mn-lt"/>
              </a:rPr>
              <a:t>' and '</a:t>
            </a:r>
            <a:r>
              <a:rPr lang="en-US" dirty="0" err="1">
                <a:latin typeface="Aptos Display"/>
                <a:ea typeface="+mn-lt"/>
                <a:cs typeface="+mn-lt"/>
              </a:rPr>
              <a:t>prior_al_claim_count</a:t>
            </a:r>
            <a:r>
              <a:rPr lang="en-US" dirty="0">
                <a:latin typeface="Aptos Display"/>
                <a:ea typeface="+mn-lt"/>
                <a:cs typeface="+mn-lt"/>
              </a:rPr>
              <a:t>' = 0 then 0.0 else median</a:t>
            </a:r>
            <a:endParaRPr lang="en-US" b="1">
              <a:latin typeface="Aptos Display"/>
              <a:ea typeface="+mn-lt"/>
              <a:cs typeface="+mn-lt"/>
            </a:endParaRPr>
          </a:p>
          <a:p>
            <a:pPr lvl="1"/>
            <a:r>
              <a:rPr lang="en-US" dirty="0">
                <a:latin typeface="Aptos Display"/>
                <a:ea typeface="+mn-lt"/>
                <a:cs typeface="+mn-lt"/>
              </a:rPr>
              <a:t>'</a:t>
            </a:r>
            <a:r>
              <a:rPr lang="en-US" dirty="0" err="1">
                <a:latin typeface="Aptos Display"/>
                <a:ea typeface="+mn-lt"/>
                <a:cs typeface="+mn-lt"/>
              </a:rPr>
              <a:t>payment_frequency</a:t>
            </a:r>
            <a:r>
              <a:rPr lang="en-US" dirty="0">
                <a:latin typeface="Aptos Display"/>
                <a:ea typeface="+mn-lt"/>
                <a:cs typeface="+mn-lt"/>
              </a:rPr>
              <a:t>'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latin typeface="Aptos Display"/>
                <a:ea typeface="+mn-lt"/>
                <a:cs typeface="+mn-lt"/>
              </a:rPr>
              <a:t>quite balanced cross categories; strategy: 'unknown'</a:t>
            </a:r>
            <a:endParaRPr lang="en-US" dirty="0">
              <a:latin typeface="Aptos Display"/>
            </a:endParaRPr>
          </a:p>
          <a:p>
            <a:r>
              <a:rPr lang="en-US" b="1" dirty="0">
                <a:latin typeface="Aptos Display"/>
              </a:rPr>
              <a:t>Snapshot date</a:t>
            </a:r>
          </a:p>
          <a:p>
            <a:pPr lvl="1"/>
            <a:r>
              <a:rPr lang="en-US" dirty="0">
                <a:latin typeface="Aptos Display"/>
                <a:ea typeface="+mn-lt"/>
                <a:cs typeface="+mn-lt"/>
              </a:rPr>
              <a:t>all records: during time when the policy is still open</a:t>
            </a:r>
          </a:p>
          <a:p>
            <a:pPr lvl="1"/>
            <a:r>
              <a:rPr lang="en-US" dirty="0">
                <a:latin typeface="Aptos Display"/>
                <a:ea typeface="+mn-lt"/>
                <a:cs typeface="+mn-lt"/>
              </a:rPr>
              <a:t>77 rows: '</a:t>
            </a:r>
            <a:r>
              <a:rPr lang="en-US" dirty="0" err="1">
                <a:latin typeface="Aptos Display"/>
                <a:ea typeface="+mn-lt"/>
                <a:cs typeface="+mn-lt"/>
              </a:rPr>
              <a:t>snapshot_date</a:t>
            </a:r>
            <a:r>
              <a:rPr lang="en-US" dirty="0">
                <a:latin typeface="Aptos Display"/>
                <a:ea typeface="+mn-lt"/>
                <a:cs typeface="+mn-lt"/>
              </a:rPr>
              <a:t>' == '</a:t>
            </a:r>
            <a:r>
              <a:rPr lang="en-US" dirty="0" err="1">
                <a:latin typeface="Aptos Display"/>
                <a:ea typeface="+mn-lt"/>
                <a:cs typeface="+mn-lt"/>
              </a:rPr>
              <a:t>policy_effective_date</a:t>
            </a:r>
            <a:r>
              <a:rPr lang="en-US" dirty="0">
                <a:latin typeface="Aptos Display"/>
                <a:ea typeface="+mn-lt"/>
                <a:cs typeface="+mn-lt"/>
              </a:rPr>
              <a:t>' --&gt; elapsed time = 0</a:t>
            </a:r>
            <a:endParaRPr lang="en-US">
              <a:latin typeface="Aptos Display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latin typeface="Aptos Display"/>
                <a:ea typeface="+mn-lt"/>
                <a:cs typeface="+mn-lt"/>
              </a:rPr>
              <a:t>11 rows: where '</a:t>
            </a:r>
            <a:r>
              <a:rPr lang="en-US" dirty="0" err="1">
                <a:latin typeface="Aptos Display"/>
                <a:ea typeface="+mn-lt"/>
                <a:cs typeface="+mn-lt"/>
              </a:rPr>
              <a:t>claim_count</a:t>
            </a:r>
            <a:r>
              <a:rPr lang="en-US" dirty="0">
                <a:latin typeface="Aptos Display"/>
                <a:ea typeface="+mn-lt"/>
                <a:cs typeface="+mn-lt"/>
              </a:rPr>
              <a:t>' &gt; 0</a:t>
            </a:r>
            <a:endParaRPr lang="en-US" dirty="0">
              <a:latin typeface="Aptos Display"/>
            </a:endParaRPr>
          </a:p>
          <a:p>
            <a:endParaRPr lang="en-US" b="1" dirty="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751307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4EF4B-72EB-7107-7F22-1EC5D3A0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EAF95-8B06-D6F1-2450-6089983B0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Feature engineering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018B8-ADAB-D41C-54A3-D938E273F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exposure_ratio</a:t>
            </a:r>
            <a:r>
              <a:rPr lang="en-US" dirty="0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elapsed_days</a:t>
            </a:r>
            <a:r>
              <a:rPr lang="en-US" dirty="0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 / </a:t>
            </a:r>
            <a:r>
              <a:rPr lang="en-US" dirty="0" err="1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policy_length_days</a:t>
            </a:r>
            <a:endParaRPr lang="en-US" dirty="0">
              <a:solidFill>
                <a:srgbClr val="000000"/>
              </a:solidFill>
              <a:latin typeface="Aptos Display"/>
              <a:ea typeface="+mn-lt"/>
              <a:cs typeface="+mn-lt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 err="1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elapsed_days</a:t>
            </a:r>
            <a:r>
              <a:rPr lang="en-US" dirty="0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snapshot_date</a:t>
            </a:r>
            <a:r>
              <a:rPr lang="en-US" dirty="0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 - </a:t>
            </a:r>
            <a:r>
              <a:rPr lang="en-US" dirty="0" err="1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policy_effective_date</a:t>
            </a:r>
            <a:endParaRPr lang="en-US">
              <a:solidFill>
                <a:srgbClr val="000000"/>
              </a:solidFill>
              <a:latin typeface="Aptos Display"/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policy_length_days</a:t>
            </a:r>
            <a:r>
              <a:rPr lang="en-US" dirty="0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policy_expiration_date</a:t>
            </a:r>
            <a:r>
              <a:rPr lang="en-US" dirty="0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 - </a:t>
            </a:r>
            <a:r>
              <a:rPr lang="en-US" dirty="0" err="1">
                <a:solidFill>
                  <a:srgbClr val="000000"/>
                </a:solidFill>
                <a:latin typeface="Aptos Display"/>
                <a:ea typeface="+mn-lt"/>
                <a:cs typeface="+mn-lt"/>
              </a:rPr>
              <a:t>policy_effective_date</a:t>
            </a:r>
            <a:endParaRPr lang="en-US" dirty="0">
              <a:solidFill>
                <a:srgbClr val="000000"/>
              </a:solidFill>
              <a:latin typeface="Aptos Display"/>
              <a:ea typeface="+mn-lt"/>
              <a:cs typeface="+mn-lt"/>
            </a:endParaRPr>
          </a:p>
          <a:p>
            <a:r>
              <a:rPr lang="en-US" b="1" dirty="0" err="1">
                <a:latin typeface="Aptos Display"/>
                <a:ea typeface="+mn-lt"/>
                <a:cs typeface="+mn-lt"/>
              </a:rPr>
              <a:t>mileage_per_vehicle</a:t>
            </a:r>
            <a:r>
              <a:rPr lang="en-US" dirty="0">
                <a:latin typeface="Aptos Display"/>
                <a:ea typeface="+mn-lt"/>
                <a:cs typeface="+mn-lt"/>
              </a:rPr>
              <a:t> = 'prior_year_mileage_000'/'</a:t>
            </a:r>
            <a:r>
              <a:rPr lang="en-US" dirty="0" err="1">
                <a:latin typeface="Aptos Display"/>
                <a:ea typeface="+mn-lt"/>
                <a:cs typeface="+mn-lt"/>
              </a:rPr>
              <a:t>total_vehicle_count</a:t>
            </a:r>
            <a:r>
              <a:rPr lang="en-US" dirty="0">
                <a:latin typeface="Aptos Display"/>
                <a:ea typeface="+mn-lt"/>
                <a:cs typeface="+mn-lt"/>
              </a:rPr>
              <a:t>'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latin typeface="Aptos Display"/>
                <a:ea typeface="+mn-lt"/>
                <a:cs typeface="+mn-lt"/>
              </a:rPr>
              <a:t>total_vehicle_count</a:t>
            </a:r>
            <a:r>
              <a:rPr lang="en-US" dirty="0">
                <a:latin typeface="Aptos Display"/>
                <a:ea typeface="+mn-lt"/>
                <a:cs typeface="+mn-lt"/>
              </a:rPr>
              <a:t> = '</a:t>
            </a:r>
            <a:r>
              <a:rPr lang="en-US" dirty="0" err="1">
                <a:latin typeface="Aptos Display"/>
                <a:ea typeface="+mn-lt"/>
                <a:cs typeface="+mn-lt"/>
              </a:rPr>
              <a:t>vehicle_count</a:t>
            </a:r>
            <a:r>
              <a:rPr lang="en-US" dirty="0">
                <a:latin typeface="Aptos Display"/>
                <a:ea typeface="+mn-lt"/>
                <a:cs typeface="+mn-lt"/>
              </a:rPr>
              <a:t>' + '</a:t>
            </a:r>
            <a:r>
              <a:rPr lang="en-US" dirty="0" err="1">
                <a:latin typeface="Aptos Display"/>
                <a:ea typeface="+mn-lt"/>
                <a:cs typeface="+mn-lt"/>
              </a:rPr>
              <a:t>num_heavy_vehicles</a:t>
            </a:r>
            <a:r>
              <a:rPr lang="en-US" dirty="0">
                <a:latin typeface="Aptos Display"/>
                <a:ea typeface="+mn-lt"/>
                <a:cs typeface="+mn-lt"/>
              </a:rPr>
              <a:t>'</a:t>
            </a:r>
            <a:endParaRPr lang="en-US">
              <a:latin typeface="Aptos Display"/>
            </a:endParaRPr>
          </a:p>
          <a:p>
            <a:r>
              <a:rPr lang="en-US" b="1" dirty="0" err="1">
                <a:latin typeface="Aptos Display"/>
                <a:ea typeface="+mn-lt"/>
                <a:cs typeface="+mn-lt"/>
              </a:rPr>
              <a:t>loss_per_claim</a:t>
            </a:r>
            <a:r>
              <a:rPr lang="en-US" dirty="0">
                <a:latin typeface="Aptos Display"/>
                <a:ea typeface="+mn-lt"/>
                <a:cs typeface="+mn-lt"/>
              </a:rPr>
              <a:t> </a:t>
            </a:r>
          </a:p>
          <a:p>
            <a:pPr marL="457200" lvl="1" indent="0">
              <a:buNone/>
            </a:pPr>
            <a:r>
              <a:rPr lang="en-US" dirty="0">
                <a:latin typeface="Aptos Display"/>
                <a:ea typeface="+mn-lt"/>
                <a:cs typeface="+mn-lt"/>
              </a:rPr>
              <a:t>= if </a:t>
            </a:r>
            <a:r>
              <a:rPr lang="en-US" dirty="0" err="1">
                <a:latin typeface="Aptos Display"/>
                <a:ea typeface="+mn-lt"/>
                <a:cs typeface="+mn-lt"/>
              </a:rPr>
              <a:t>total_prior_claims</a:t>
            </a:r>
            <a:r>
              <a:rPr lang="en-US" dirty="0">
                <a:latin typeface="Aptos Display"/>
                <a:ea typeface="+mn-lt"/>
                <a:cs typeface="+mn-lt"/>
              </a:rPr>
              <a:t> &gt; 0 then </a:t>
            </a:r>
            <a:r>
              <a:rPr lang="en-US" dirty="0" err="1">
                <a:latin typeface="Aptos Display"/>
                <a:ea typeface="+mn-lt"/>
                <a:cs typeface="+mn-lt"/>
              </a:rPr>
              <a:t>prior_loss_amount</a:t>
            </a:r>
            <a:r>
              <a:rPr lang="en-US" dirty="0">
                <a:latin typeface="Aptos Display"/>
                <a:ea typeface="+mn-lt"/>
                <a:cs typeface="+mn-lt"/>
              </a:rPr>
              <a:t> / </a:t>
            </a:r>
            <a:r>
              <a:rPr lang="en-US" dirty="0" err="1">
                <a:latin typeface="Aptos Display"/>
                <a:ea typeface="+mn-lt"/>
                <a:cs typeface="+mn-lt"/>
              </a:rPr>
              <a:t>total_prior_claims</a:t>
            </a:r>
            <a:r>
              <a:rPr lang="en-US" dirty="0">
                <a:latin typeface="Aptos Display"/>
                <a:ea typeface="+mn-lt"/>
                <a:cs typeface="+mn-lt"/>
              </a:rPr>
              <a:t> else 0.0</a:t>
            </a:r>
            <a:endParaRPr lang="en-US" sz="2800"/>
          </a:p>
          <a:p>
            <a:r>
              <a:rPr lang="en-US" b="1" dirty="0">
                <a:latin typeface="Aptos Display"/>
                <a:ea typeface="+mn-lt"/>
                <a:cs typeface="+mn-lt"/>
              </a:rPr>
              <a:t>has_large_prior_loss</a:t>
            </a:r>
            <a:r>
              <a:rPr lang="en-US" dirty="0">
                <a:latin typeface="Aptos Display"/>
                <a:ea typeface="+mn-lt"/>
                <a:cs typeface="+mn-lt"/>
              </a:rPr>
              <a:t> = prior_loss_amount &gt; 50000</a:t>
            </a:r>
          </a:p>
          <a:p>
            <a:r>
              <a:rPr lang="en-US" b="1" dirty="0">
                <a:latin typeface="Aptos Display"/>
                <a:ea typeface="+mn-lt"/>
                <a:cs typeface="+mn-lt"/>
              </a:rPr>
              <a:t>risk_score_external_isna</a:t>
            </a:r>
            <a:r>
              <a:rPr lang="en-US" dirty="0">
                <a:latin typeface="Aptos Display"/>
                <a:ea typeface="+mn-lt"/>
                <a:cs typeface="+mn-lt"/>
              </a:rPr>
              <a:t> = True/False  - risk_score_external</a:t>
            </a:r>
          </a:p>
        </p:txBody>
      </p:sp>
    </p:spTree>
    <p:extLst>
      <p:ext uri="{BB962C8B-B14F-4D97-AF65-F5344CB8AC3E}">
        <p14:creationId xmlns:p14="http://schemas.microsoft.com/office/powerpoint/2010/main" val="157970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4FD7A-2E50-0553-B7B4-7FD894166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Preprocessing &amp; improvements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8F6DB-8C5E-6812-6CA9-1E34464F0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Evaluate: use "X_test" / "y_test" instead of train data</a:t>
            </a:r>
          </a:p>
          <a:p>
            <a:r>
              <a:rPr lang="en-US" dirty="0">
                <a:latin typeface="Aptos"/>
                <a:ea typeface="+mn-lt"/>
                <a:cs typeface="+mn-lt"/>
              </a:rPr>
              <a:t>Cleanup of training / real data</a:t>
            </a:r>
          </a:p>
          <a:p>
            <a:r>
              <a:rPr lang="en-US" dirty="0">
                <a:latin typeface="Aptos"/>
                <a:ea typeface="+mn-lt"/>
                <a:cs typeface="+mn-lt"/>
              </a:rPr>
              <a:t>Feature engineering – adding new columns + remove target ones</a:t>
            </a:r>
          </a:p>
          <a:p>
            <a:r>
              <a:rPr lang="en-US" dirty="0">
                <a:latin typeface="Aptos"/>
                <a:ea typeface="+mn-lt"/>
                <a:cs typeface="+mn-lt"/>
              </a:rPr>
              <a:t>train_test_split data</a:t>
            </a:r>
          </a:p>
          <a:p>
            <a:r>
              <a:rPr lang="en-US" dirty="0">
                <a:latin typeface="Aptos"/>
                <a:ea typeface="+mn-lt"/>
                <a:cs typeface="+mn-lt"/>
              </a:rPr>
              <a:t>Create Pipeline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  <a:ea typeface="+mn-lt"/>
                <a:cs typeface="+mn-lt"/>
              </a:rPr>
              <a:t>after train_test_split</a:t>
            </a:r>
            <a:endParaRPr lang="en-US">
              <a:latin typeface="Aptos"/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  <a:ea typeface="+mn-lt"/>
                <a:cs typeface="+mn-lt"/>
              </a:rPr>
              <a:t>define steps for imputation / encoding / scaling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  <a:ea typeface="+mn-lt"/>
                <a:cs typeface="+mn-lt"/>
              </a:rPr>
              <a:t>0 for all numeric values may not describe the reality</a:t>
            </a:r>
          </a:p>
          <a:p>
            <a:r>
              <a:rPr lang="en-US" dirty="0">
                <a:latin typeface="Aptos"/>
                <a:ea typeface="+mn-lt"/>
                <a:cs typeface="+mn-lt"/>
              </a:rPr>
              <a:t>Try various models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  <a:ea typeface="+mn-lt"/>
                <a:cs typeface="+mn-lt"/>
              </a:rPr>
              <a:t>Selected: XGBoost</a:t>
            </a:r>
          </a:p>
          <a:p>
            <a:r>
              <a:rPr lang="en-US" dirty="0">
                <a:latin typeface="Aptos"/>
                <a:ea typeface="+mn-lt"/>
                <a:cs typeface="+mn-lt"/>
              </a:rPr>
              <a:t>Metrices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  <a:ea typeface="+mn-lt"/>
                <a:cs typeface="+mn-lt"/>
              </a:rPr>
              <a:t>Accuracy may not be suitable in this case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ptos"/>
                <a:ea typeface="+mn-lt"/>
                <a:cs typeface="+mn-lt"/>
              </a:rPr>
              <a:t>Imbalanced classes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latin typeface="Aptos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07808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FC48-D0A9-8BC0-2C81-582B5D96C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Modeling Strategy &amp; Validation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618B5-3B51-79B1-48A0-6F076506D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Model: XGBoost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Captures non-linear operational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interactions without manual feature 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combinations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should be more resilient to skewness 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and outliers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Native handling of sparse features and 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missing values.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r>
              <a:rPr lang="en-US" dirty="0">
                <a:ea typeface="+mn-lt"/>
                <a:cs typeface="+mn-lt"/>
              </a:rPr>
              <a:t>Metrics Tracked: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ROC-AUC &amp; Gini: Evaluates risk rank-ordering.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Brier Score: Assesses probability calibration accuracy.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D9F1B-5892-5C99-FF07-E8E84B58D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304" y="4684071"/>
            <a:ext cx="2571146" cy="1493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0ED860-293B-C29B-CAEC-888A15EFB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241" y="1935160"/>
            <a:ext cx="4435022" cy="22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63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7BC5-AE4F-BD4F-FECE-4BCE721CC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Readiness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E6A9D-D9EA-A773-E6CA-065B77EF3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file preparation / refactoring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remove unnecessary imports / prints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move functions into separate file(s)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put the code into .</a:t>
            </a:r>
            <a:r>
              <a:rPr lang="en-US" dirty="0" err="1">
                <a:ea typeface="+mn-lt"/>
                <a:cs typeface="+mn-lt"/>
              </a:rPr>
              <a:t>py</a:t>
            </a:r>
            <a:r>
              <a:rPr lang="en-US" dirty="0">
                <a:ea typeface="+mn-lt"/>
                <a:cs typeface="+mn-lt"/>
              </a:rPr>
              <a:t> file instead of </a:t>
            </a:r>
            <a:r>
              <a:rPr lang="en-US" dirty="0" err="1">
                <a:ea typeface="+mn-lt"/>
                <a:cs typeface="+mn-lt"/>
              </a:rPr>
              <a:t>ipynb</a:t>
            </a:r>
            <a:endParaRPr lang="en-US" dirty="0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separate credentials into .env file - avoid hardcoding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include requirements.txt file (for compatibility)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separate the flow: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file(s) for EAD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file(s) for preprocessing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file(s) for training the model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file for model prediction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save model and all its parameters to file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implement source schema validation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add tests and logging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579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17238-6ACF-D355-276D-F11705876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4B596-CE6F-98DD-FF32-716C436A1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Readiness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E9E89-FC72-C1FB-2AC0-509218E6B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code review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prepare documentation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commit to </a:t>
            </a:r>
            <a:r>
              <a:rPr lang="en-US" dirty="0" err="1">
                <a:ea typeface="+mn-lt"/>
                <a:cs typeface="+mn-lt"/>
              </a:rPr>
              <a:t>github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orchestration of the jobs</a:t>
            </a:r>
          </a:p>
          <a:p>
            <a:r>
              <a:rPr lang="en-US" dirty="0">
                <a:ea typeface="+mn-lt"/>
                <a:cs typeface="+mn-lt"/>
              </a:rPr>
              <a:t>files (if any) save to cloud / official storage location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check rights</a:t>
            </a:r>
          </a:p>
          <a:p>
            <a:r>
              <a:rPr lang="en-US" dirty="0">
                <a:ea typeface="+mn-lt"/>
                <a:cs typeface="+mn-lt"/>
              </a:rPr>
              <a:t>after deployment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monitor the performance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re-train if needed or conditions have been changed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605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Commercial Auto Risk Scoring</vt:lpstr>
      <vt:lpstr>Summary &amp; Objective</vt:lpstr>
      <vt:lpstr>Problem Formulation &amp; Key Assumptions</vt:lpstr>
      <vt:lpstr>Exploratory Data Analysis &amp; Data Integrity</vt:lpstr>
      <vt:lpstr>Exploratory Data Analysis &amp; Data Integrity</vt:lpstr>
      <vt:lpstr>Feature engineering</vt:lpstr>
      <vt:lpstr>Preprocessing &amp; improvements</vt:lpstr>
      <vt:lpstr>Modeling Strategy &amp; Validation</vt:lpstr>
      <vt:lpstr>Production Readiness Improvements</vt:lpstr>
      <vt:lpstr>Production Readiness 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457</cp:revision>
  <dcterms:created xsi:type="dcterms:W3CDTF">2026-10-05T09:36:33Z</dcterms:created>
  <dcterms:modified xsi:type="dcterms:W3CDTF">2026-10-05T14:23:00Z</dcterms:modified>
</cp:coreProperties>
</file>